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07940" y="828973"/>
            <a:ext cx="55281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Comparative Analysis of</a:t>
            </a:r>
            <a:endParaRPr lang="en-US" sz="3600" dirty="0"/>
          </a:p>
          <a:p>
            <a:pPr algn="ctr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and L2 Regularization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19456" y="1895773"/>
            <a:ext cx="870508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Aft>
                <a:spcPts val="24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Selection in Housing Price Prediction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19456" y="2596753"/>
            <a:ext cx="870508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Muhammad Anwar Raza (MSDS25002) - Team Lead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19456" y="2912864"/>
            <a:ext cx="870508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Fahad Khalid (MSDS25025)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19456" y="3228975"/>
            <a:ext cx="870508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Noman Ali (MSDS25054)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19456" y="3849886"/>
            <a:ext cx="8705088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CS587 - Statistical and Mathematical Tools for Data Science</a:t>
            </a:r>
            <a:endParaRPr lang="en-US" sz="1200" dirty="0"/>
          </a:p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Information Technology University (ITU), Pakistan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8534400" cy="5715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381000"/>
            <a:ext cx="8238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Agenda &amp; Team Roles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04800" y="990600"/>
            <a:ext cx="2137410" cy="21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What We'll Cover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04800" y="1354634"/>
            <a:ext cx="42553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pPr algn="l" indent="0" marL="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Problem &amp; Objectives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4800" y="1697534"/>
            <a:ext cx="42553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pPr algn="l" indent="0" marL="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Dataset &amp; Methodology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04800" y="2040434"/>
            <a:ext cx="42553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pPr algn="l" indent="0" marL="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Theoretical Foundation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04800" y="2383334"/>
            <a:ext cx="42553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pPr algn="l" indent="0" marL="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Experimental Results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04800" y="2726234"/>
            <a:ext cx="42553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pPr algn="l" indent="0" marL="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Key Findings &amp; Impact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04800" y="3069134"/>
            <a:ext cx="42553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</a:t>
            </a:r>
            <a:pPr algn="l" indent="0" marL="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Conclusion &amp; Q&amp;A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67250" y="990600"/>
            <a:ext cx="2137410" cy="21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Presentation By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67250" y="1354634"/>
            <a:ext cx="4171950" cy="706636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686300" y="1354634"/>
            <a:ext cx="0" cy="706636"/>
          </a:xfrm>
          <a:prstGeom prst="line">
            <a:avLst/>
          </a:prstGeom>
          <a:noFill/>
          <a:ln w="38100">
            <a:solidFill>
              <a:srgbClr val="EA58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57750" y="1468934"/>
            <a:ext cx="39056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Muhammad Anwar Raza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57750" y="1773734"/>
            <a:ext cx="390563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Introduction, Problem Statement, Results Overview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667250" y="2156520"/>
            <a:ext cx="4171950" cy="706636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86300" y="2156520"/>
            <a:ext cx="0" cy="706636"/>
          </a:xfrm>
          <a:prstGeom prst="line">
            <a:avLst/>
          </a:prstGeom>
          <a:noFill/>
          <a:ln w="381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57750" y="2270820"/>
            <a:ext cx="39056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Fahad Khalid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57750" y="2575620"/>
            <a:ext cx="390563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Dataset, Methodology, Feature Engineering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4667250" y="2958405"/>
            <a:ext cx="4171950" cy="706636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686300" y="2958405"/>
            <a:ext cx="0" cy="706636"/>
          </a:xfrm>
          <a:prstGeom prst="line">
            <a:avLst/>
          </a:prstGeom>
          <a:noFill/>
          <a:ln w="381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57750" y="3072705"/>
            <a:ext cx="39056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Noman Ali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857750" y="3377505"/>
            <a:ext cx="390563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Theory, Model Comparison, Conclusions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4667250" y="3817441"/>
            <a:ext cx="425538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97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Total Time: 8-10 minutes • Q&amp;A: 2-3 minutes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8534400" cy="5715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381000"/>
            <a:ext cx="8238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Research Questions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04800" y="1390650"/>
            <a:ext cx="8534400" cy="1089422"/>
          </a:xfrm>
          <a:prstGeom prst="roundRect">
            <a:avLst>
              <a:gd name="adj" fmla="val 6995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6250" y="1562100"/>
            <a:ext cx="835533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The Challenge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6250" y="1882080"/>
            <a:ext cx="835533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High-dimensional datasets (246 features) create risk of </a:t>
            </a:r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overfitting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regression models. Can we maintain prediction accuracy while </a:t>
            </a:r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significantly reducing model complexity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04800" y="2632472"/>
            <a:ext cx="8705088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Key Research Questions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04800" y="2952452"/>
            <a:ext cx="4210050" cy="963811"/>
          </a:xfrm>
          <a:prstGeom prst="roundRect">
            <a:avLst>
              <a:gd name="adj" fmla="val 7906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6250" y="3123902"/>
            <a:ext cx="394449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76250" y="3373338"/>
            <a:ext cx="394449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L1 (Lasso) and L2 (Ridge) regularization differ in automatic feature selection?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629150" y="2952452"/>
            <a:ext cx="4210050" cy="963811"/>
          </a:xfrm>
          <a:prstGeom prst="roundRect">
            <a:avLst>
              <a:gd name="adj" fmla="val 7906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00600" y="3123902"/>
            <a:ext cx="394449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800600" y="3373338"/>
            <a:ext cx="394449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sparse models (fewer features) achieve comparable accuracy to full models?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304800" y="4144863"/>
            <a:ext cx="8534400" cy="601861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23850" y="4144863"/>
            <a:ext cx="0" cy="601861"/>
          </a:xfrm>
          <a:prstGeom prst="line">
            <a:avLst/>
          </a:prstGeom>
          <a:noFill/>
          <a:ln w="381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5300" y="4259163"/>
            <a:ext cx="835533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Goal: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Compare regularization techniques on Ames Housing dataset to demonstrate effective feature selection with minimal performance loss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8534400" cy="5715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381000"/>
            <a:ext cx="8238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&amp; Preprocessing Pipeline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04800" y="1390650"/>
            <a:ext cx="4255389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Ames Housing Dataset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04800" y="1710630"/>
            <a:ext cx="4171950" cy="1092994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23850" y="1710630"/>
            <a:ext cx="0" cy="1092994"/>
          </a:xfrm>
          <a:prstGeom prst="line">
            <a:avLst/>
          </a:prstGeom>
          <a:noFill/>
          <a:ln w="38100">
            <a:solidFill>
              <a:srgbClr val="EA58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5300" y="1824930"/>
            <a:ext cx="390563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Samples:</a:t>
            </a:r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2,930 residential properties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495300" y="2055316"/>
            <a:ext cx="390563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Features:</a:t>
            </a:r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82 (39 numeric, 43 categorical)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95300" y="2285702"/>
            <a:ext cx="390563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</a:t>
            </a:r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SalePrice ($12,789 - $755,000)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95300" y="2516088"/>
            <a:ext cx="390563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</a:t>
            </a:r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Ames, Iowa (2006-2010)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304800" y="2956024"/>
            <a:ext cx="4255389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Split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4800" y="3214985"/>
            <a:ext cx="2047875" cy="733276"/>
          </a:xfrm>
          <a:prstGeom prst="roundRect">
            <a:avLst>
              <a:gd name="adj" fmla="val 10392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00907" y="3329285"/>
            <a:ext cx="185566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2,344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00907" y="3687366"/>
            <a:ext cx="18556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(80%)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2428875" y="3214985"/>
            <a:ext cx="2047875" cy="733276"/>
          </a:xfrm>
          <a:prstGeom prst="roundRect">
            <a:avLst>
              <a:gd name="adj" fmla="val 10392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524982" y="3329285"/>
            <a:ext cx="185566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586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524982" y="3687366"/>
            <a:ext cx="18556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(20%)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667250" y="1390650"/>
            <a:ext cx="4255389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Preprocessing Steps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667250" y="1710630"/>
            <a:ext cx="42553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Missing Values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667250" y="2015430"/>
            <a:ext cx="42553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&gt;50% missing • Median/Mode imputation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667250" y="2377380"/>
            <a:ext cx="42553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Feature Engineering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667250" y="2682180"/>
            <a:ext cx="42553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Total_SF • Total_Bathrooms • House_Age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67250" y="3044130"/>
            <a:ext cx="42553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Encoding &amp; Scaling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667250" y="3348930"/>
            <a:ext cx="425538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One-hot: 43 categorical → 246 features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Z-score standardization • Log transform target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667250" y="3996630"/>
            <a:ext cx="4171950" cy="388590"/>
          </a:xfrm>
          <a:prstGeom prst="rect">
            <a:avLst/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686300" y="3996630"/>
            <a:ext cx="0" cy="38859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57750" y="4110930"/>
            <a:ext cx="39056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Final: 2,930 samples × 246 features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8534400" cy="5715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381000"/>
            <a:ext cx="8238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Regularization Theory: L1 vs L2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04800" y="1390650"/>
            <a:ext cx="4191000" cy="352425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04800" y="1400175"/>
            <a:ext cx="41910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86275" y="1390650"/>
            <a:ext cx="0" cy="352425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4800" y="4905375"/>
            <a:ext cx="41910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3850" y="1390650"/>
            <a:ext cx="0" cy="352425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5300" y="1562100"/>
            <a:ext cx="3905631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Regression (L2)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95300" y="1882080"/>
            <a:ext cx="39056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Function: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5300" y="2224980"/>
            <a:ext cx="3829050" cy="41910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71500" y="2301180"/>
            <a:ext cx="375018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minimize ||y - Xβ||² + λ||β||₂²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5300" y="2739330"/>
            <a:ext cx="39056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Properties: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5300" y="3063180"/>
            <a:ext cx="3829050" cy="8763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Shrinks ALL coefficients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exactly zero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Retains all 246 features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95300" y="4053780"/>
            <a:ext cx="3829050" cy="388590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14350" y="4053780"/>
            <a:ext cx="0" cy="38859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168080"/>
            <a:ext cx="355587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Retains all 246 features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48200" y="1390650"/>
            <a:ext cx="4191000" cy="352425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648200" y="1400175"/>
            <a:ext cx="41910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9675" y="1390650"/>
            <a:ext cx="0" cy="352425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48200" y="4905375"/>
            <a:ext cx="41910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7250" y="1390650"/>
            <a:ext cx="0" cy="3524250"/>
          </a:xfrm>
          <a:prstGeom prst="line">
            <a:avLst/>
          </a:prstGeom>
          <a:noFill/>
          <a:ln w="381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38700" y="1562100"/>
            <a:ext cx="3905631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Lasso Regression (L1)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838700" y="1882080"/>
            <a:ext cx="39056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Function: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838700" y="2224980"/>
            <a:ext cx="3829050" cy="41910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914900" y="2301180"/>
            <a:ext cx="375018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minimize ||y - Xβ||² + λ||β||₁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838700" y="2739330"/>
            <a:ext cx="39056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Properties: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838700" y="3063180"/>
            <a:ext cx="3829050" cy="8763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 many to zero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feature selection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Selects only 114 features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838700" y="4053780"/>
            <a:ext cx="3829050" cy="388590"/>
          </a:xfrm>
          <a:prstGeom prst="rect">
            <a:avLst/>
          </a:prstGeom>
          <a:solidFill>
            <a:srgbClr val="FFF7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857750" y="4053780"/>
            <a:ext cx="0" cy="388590"/>
          </a:xfrm>
          <a:prstGeom prst="line">
            <a:avLst/>
          </a:prstGeom>
          <a:noFill/>
          <a:ln w="38100">
            <a:solidFill>
              <a:srgbClr val="EA580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4168080"/>
            <a:ext cx="355587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Selects only 114 features (53.7% eliminated!)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8534400" cy="5715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381000"/>
            <a:ext cx="8238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Implemented &amp; Hyperparameter Tuning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04800" y="1390650"/>
            <a:ext cx="4210050" cy="773311"/>
          </a:xfrm>
          <a:prstGeom prst="roundRect">
            <a:avLst>
              <a:gd name="adj" fmla="val 9854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6250" y="1562100"/>
            <a:ext cx="394449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(L2) + OLS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6250" y="1809750"/>
            <a:ext cx="3944493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penalty • Grid search 50 α values • 5-fold CV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629150" y="1390650"/>
            <a:ext cx="4210050" cy="773311"/>
          </a:xfrm>
          <a:prstGeom prst="roundRect">
            <a:avLst>
              <a:gd name="adj" fmla="val 9854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00600" y="1562100"/>
            <a:ext cx="394449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Lasso (L1) + RF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00600" y="1809750"/>
            <a:ext cx="3944493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penalty • Feature selection • Coordinate descent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4800" y="2297311"/>
            <a:ext cx="8534400" cy="1418927"/>
          </a:xfrm>
          <a:prstGeom prst="roundRect">
            <a:avLst>
              <a:gd name="adj" fmla="val 537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6250" y="2468761"/>
            <a:ext cx="835533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Hyperparameter Optimization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6250" y="3056186"/>
            <a:ext cx="4119372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search over 50 logarithmic α values • 5-fold cross-validation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629150" y="2842022"/>
            <a:ext cx="1981200" cy="626566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48200" y="2842022"/>
            <a:ext cx="0" cy="626566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9650" y="2956322"/>
            <a:ext cx="16710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α: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819650" y="3141018"/>
            <a:ext cx="167106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494.171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86550" y="2842022"/>
            <a:ext cx="1981200" cy="626566"/>
          </a:xfrm>
          <a:prstGeom prst="rect">
            <a:avLst/>
          </a:prstGeom>
          <a:solidFill>
            <a:srgbClr val="FFF7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705600" y="2842022"/>
            <a:ext cx="0" cy="626566"/>
          </a:xfrm>
          <a:prstGeom prst="line">
            <a:avLst/>
          </a:prstGeom>
          <a:noFill/>
          <a:ln w="38100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77050" y="2956322"/>
            <a:ext cx="16710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Lasso α: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6877050" y="3141018"/>
            <a:ext cx="167106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0.003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8534400" cy="5715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381000"/>
            <a:ext cx="8238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Results: Model Performance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04800" y="3286125"/>
            <a:ext cx="2768650" cy="931366"/>
          </a:xfrm>
          <a:prstGeom prst="roundRect">
            <a:avLst>
              <a:gd name="adj" fmla="val 8182"/>
            </a:avLst>
          </a:prstGeom>
          <a:solidFill>
            <a:srgbClr val="EFF6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04800" y="3295650"/>
            <a:ext cx="276865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63925" y="3286125"/>
            <a:ext cx="0" cy="931366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4800" y="4207966"/>
            <a:ext cx="276865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3850" y="3286125"/>
            <a:ext cx="0" cy="931366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5300" y="3457575"/>
            <a:ext cx="245483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Linear Model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95300" y="3674715"/>
            <a:ext cx="245483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Ridge: R² = 0.8780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5300" y="3899446"/>
            <a:ext cx="24548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all 246 features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187750" y="3286125"/>
            <a:ext cx="2768650" cy="931366"/>
          </a:xfrm>
          <a:prstGeom prst="roundRect">
            <a:avLst>
              <a:gd name="adj" fmla="val 8182"/>
            </a:avLst>
          </a:prstGeom>
          <a:solidFill>
            <a:srgbClr val="FFF7ED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187750" y="3295650"/>
            <a:ext cx="276865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6874" y="3286125"/>
            <a:ext cx="0" cy="931366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87750" y="4207966"/>
            <a:ext cx="276865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6800" y="3286125"/>
            <a:ext cx="0" cy="931366"/>
          </a:xfrm>
          <a:prstGeom prst="line">
            <a:avLst/>
          </a:prstGeom>
          <a:noFill/>
          <a:ln w="3810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78250" y="3457575"/>
            <a:ext cx="245483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Parsimonious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78250" y="3674715"/>
            <a:ext cx="245483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Lasso: R² = 0.8674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78250" y="3899446"/>
            <a:ext cx="24548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46.3% of features!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6070699" y="3286125"/>
            <a:ext cx="2768650" cy="931366"/>
          </a:xfrm>
          <a:prstGeom prst="roundRect">
            <a:avLst>
              <a:gd name="adj" fmla="val 8182"/>
            </a:avLst>
          </a:prstGeom>
          <a:solidFill>
            <a:srgbClr val="F0FDF4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070699" y="3295650"/>
            <a:ext cx="276865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29824" y="3286125"/>
            <a:ext cx="0" cy="931366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70699" y="4207966"/>
            <a:ext cx="276865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89749" y="3286125"/>
            <a:ext cx="0" cy="931366"/>
          </a:xfrm>
          <a:prstGeom prst="line">
            <a:avLst/>
          </a:prstGeom>
          <a:noFill/>
          <a:ln w="381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1199" y="3457575"/>
            <a:ext cx="245483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Generalization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61199" y="3674715"/>
            <a:ext cx="245483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Lasso: Gap = 0.0061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61199" y="3899446"/>
            <a:ext cx="24548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overfitting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304800" y="4331791"/>
            <a:ext cx="8534400" cy="401836"/>
          </a:xfrm>
          <a:prstGeom prst="rect">
            <a:avLst/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323850" y="4331791"/>
            <a:ext cx="0" cy="401836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300" y="4446091"/>
            <a:ext cx="83553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Lasso achieves 98.8% of Ridge performance while using only 46.3% of features!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8534400" cy="5715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381000"/>
            <a:ext cx="8238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Selection Results: Lasso Analysis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04800" y="1390650"/>
            <a:ext cx="427482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Elimination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733550" y="1996380"/>
            <a:ext cx="1333500" cy="1333500"/>
          </a:xfrm>
          <a:prstGeom prst="roundRect">
            <a:avLst>
              <a:gd name="adj" fmla="val 6857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904356" y="2324100"/>
            <a:ext cx="991740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53.7%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134491" y="2842171"/>
            <a:ext cx="5314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04800" y="3882330"/>
            <a:ext cx="2057400" cy="679996"/>
          </a:xfrm>
          <a:prstGeom prst="rect">
            <a:avLst/>
          </a:prstGeom>
          <a:solidFill>
            <a:srgbClr val="FFF7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3850" y="3882330"/>
            <a:ext cx="0" cy="679996"/>
          </a:xfrm>
          <a:prstGeom prst="line">
            <a:avLst/>
          </a:prstGeom>
          <a:noFill/>
          <a:ln w="38100">
            <a:solidFill>
              <a:srgbClr val="EA58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5300" y="3996630"/>
            <a:ext cx="17487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Eliminated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95300" y="4181326"/>
            <a:ext cx="17487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438400" y="3882330"/>
            <a:ext cx="2057400" cy="679996"/>
          </a:xfrm>
          <a:prstGeom prst="rect">
            <a:avLst/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457450" y="3882330"/>
            <a:ext cx="0" cy="679996"/>
          </a:xfrm>
          <a:prstGeom prst="line">
            <a:avLst/>
          </a:prstGeom>
          <a:noFill/>
          <a:ln w="381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28900" y="3996630"/>
            <a:ext cx="17487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2628900" y="4181326"/>
            <a:ext cx="17487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48200" y="1390650"/>
            <a:ext cx="427482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8 Selected Features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648200" y="1710630"/>
            <a:ext cx="42748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Gr Liv Area</a:t>
            </a:r>
            <a:pPr algn="l" indent="0" marL="0">
              <a:lnSpc>
                <a:spcPts val="21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0.1140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48200" y="2034480"/>
            <a:ext cx="42748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Overall Qual</a:t>
            </a:r>
            <a:pPr algn="l" indent="0" marL="0">
              <a:lnSpc>
                <a:spcPts val="21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0.0965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48200" y="2358330"/>
            <a:ext cx="42748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Year Built</a:t>
            </a:r>
            <a:pPr algn="l" indent="0" marL="0">
              <a:lnSpc>
                <a:spcPts val="21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0.0466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648200" y="2682180"/>
            <a:ext cx="42748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Total SF</a:t>
            </a:r>
            <a:pPr algn="l" indent="0" marL="0">
              <a:lnSpc>
                <a:spcPts val="21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0.0420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648200" y="3006030"/>
            <a:ext cx="42748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Kitchen Qual Ex</a:t>
            </a:r>
            <a:pPr algn="l" indent="0" marL="0">
              <a:lnSpc>
                <a:spcPts val="21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0.0389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648200" y="3329880"/>
            <a:ext cx="42748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Bsmt Qual Ex</a:t>
            </a:r>
            <a:pPr algn="l" indent="0" marL="0">
              <a:lnSpc>
                <a:spcPts val="21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0.0356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48200" y="3653730"/>
            <a:ext cx="42748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Garage Cars</a:t>
            </a:r>
            <a:pPr algn="l" indent="0" marL="0">
              <a:lnSpc>
                <a:spcPts val="21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0.0334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648200" y="3977580"/>
            <a:ext cx="42748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Total Bathrooms</a:t>
            </a:r>
            <a:pPr algn="l" indent="0" marL="0">
              <a:lnSpc>
                <a:spcPts val="21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0.0312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8534400" cy="5715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381000"/>
            <a:ext cx="8238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 &amp; Practical Impact</a:t>
            </a:r>
            <a:endParaRPr lang="en-US" sz="1500" dirty="0"/>
          </a:p>
        </p:txBody>
      </p:sp>
      <p:pic>
        <p:nvPicPr>
          <p:cNvPr id="4" name="Image 0" descr="/tmp/rasterized-gradient-1c189b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390650"/>
            <a:ext cx="8534400" cy="960090"/>
          </a:xfrm>
          <a:prstGeom prst="rect">
            <a:avLst/>
          </a:prstGeom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14350" y="1562100"/>
            <a:ext cx="83164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Main Finding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14350" y="1905000"/>
            <a:ext cx="831646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(Lasso) regularization eliminates </a:t>
            </a:r>
            <a:pPr algn="l" indent="0" marL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53.7%</a:t>
            </a:r>
            <a:pPr algn="l" indent="0" marL="0">
              <a:lnSpc>
                <a:spcPts val="2160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features while achieving </a:t>
            </a:r>
            <a:pPr algn="l" indent="0" marL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98.8%</a:t>
            </a:r>
            <a:pPr algn="l" indent="0" marL="0">
              <a:lnSpc>
                <a:spcPts val="2160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Ridge's performance</a:t>
            </a:r>
            <a:endParaRPr lang="en-US" sz="1125" dirty="0"/>
          </a:p>
        </p:txBody>
      </p:sp>
      <p:sp>
        <p:nvSpPr>
          <p:cNvPr id="7" name="Text 4"/>
          <p:cNvSpPr/>
          <p:nvPr/>
        </p:nvSpPr>
        <p:spPr>
          <a:xfrm>
            <a:off x="304800" y="2503140"/>
            <a:ext cx="2768501" cy="931515"/>
          </a:xfrm>
          <a:prstGeom prst="roundRect">
            <a:avLst>
              <a:gd name="adj" fmla="val 818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76250" y="2674590"/>
            <a:ext cx="247411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76250" y="2891730"/>
            <a:ext cx="247411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Lasso shows </a:t>
            </a:r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generalization</a:t>
            </a:r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(gap = 0.0061)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3187601" y="2503140"/>
            <a:ext cx="2768650" cy="931515"/>
          </a:xfrm>
          <a:prstGeom prst="roundRect">
            <a:avLst>
              <a:gd name="adj" fmla="val 818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359051" y="2674590"/>
            <a:ext cx="24742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2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359051" y="2891730"/>
            <a:ext cx="247426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provides </a:t>
            </a:r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accuracy</a:t>
            </a:r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among linear models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6070550" y="2503140"/>
            <a:ext cx="2768501" cy="931515"/>
          </a:xfrm>
          <a:prstGeom prst="roundRect">
            <a:avLst>
              <a:gd name="adj" fmla="val 818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242000" y="2674590"/>
            <a:ext cx="247411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3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242000" y="2891730"/>
            <a:ext cx="2474113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features align with </a:t>
            </a:r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knowledge</a:t>
            </a:r>
            <a:endParaRPr lang="en-US" sz="975" dirty="0"/>
          </a:p>
        </p:txBody>
      </p:sp>
      <p:sp>
        <p:nvSpPr>
          <p:cNvPr id="16" name="Text 13"/>
          <p:cNvSpPr/>
          <p:nvPr/>
        </p:nvSpPr>
        <p:spPr>
          <a:xfrm>
            <a:off x="304800" y="3587055"/>
            <a:ext cx="8705088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💼 Practical Impact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304800" y="3983236"/>
            <a:ext cx="2768650" cy="788640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323850" y="3983236"/>
            <a:ext cx="0" cy="788640"/>
          </a:xfrm>
          <a:prstGeom prst="line">
            <a:avLst/>
          </a:prstGeom>
          <a:noFill/>
          <a:ln w="38100">
            <a:solidFill>
              <a:srgbClr val="0EA5E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5300" y="4097536"/>
            <a:ext cx="24742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Cost Savings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95300" y="4314676"/>
            <a:ext cx="247426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only 114 features instead of 246 → 53.7% reduction in data collection costs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187750" y="3983236"/>
            <a:ext cx="2768650" cy="788640"/>
          </a:xfrm>
          <a:prstGeom prst="rect">
            <a:avLst/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3206800" y="3983236"/>
            <a:ext cx="0" cy="788640"/>
          </a:xfrm>
          <a:prstGeom prst="line">
            <a:avLst/>
          </a:prstGeom>
          <a:noFill/>
          <a:ln w="38100">
            <a:solidFill>
              <a:srgbClr val="16A34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378250" y="4097536"/>
            <a:ext cx="24742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Speed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378250" y="4314676"/>
            <a:ext cx="247426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predictions with fewer features → critical for real-time web applications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070699" y="3983236"/>
            <a:ext cx="2768650" cy="788640"/>
          </a:xfrm>
          <a:prstGeom prst="rect">
            <a:avLst/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6089749" y="3983236"/>
            <a:ext cx="0" cy="78864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61199" y="4097536"/>
            <a:ext cx="24742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Interpretability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261199" y="4314676"/>
            <a:ext cx="247426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Simpler model easier to explain to stakeholders and deploy in production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8534400" cy="5715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381000"/>
            <a:ext cx="8238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 &amp; Future Work</a:t>
            </a:r>
            <a:endParaRPr lang="en-US" sz="1500" dirty="0"/>
          </a:p>
        </p:txBody>
      </p:sp>
      <p:pic>
        <p:nvPicPr>
          <p:cNvPr id="4" name="Image 0" descr="/tmp/rasterized-gradient-738777c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390650"/>
            <a:ext cx="8534400" cy="857101"/>
          </a:xfrm>
          <a:prstGeom prst="rect">
            <a:avLst/>
          </a:prstGeom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14350" y="1562100"/>
            <a:ext cx="8316468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Main Contribution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14350" y="1863030"/>
            <a:ext cx="831646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 models (Lasso) match complex models' performance with superior interpretability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04800" y="2400151"/>
            <a:ext cx="870508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Key Takeaways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04800" y="2678162"/>
            <a:ext cx="2781300" cy="11811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38150" y="2811512"/>
            <a:ext cx="25648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L1 performs automatic feature selection with minimal loss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181350" y="2678162"/>
            <a:ext cx="2781300" cy="11811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314700" y="2811512"/>
            <a:ext cx="256489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Lasso achieves best generalization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057900" y="2678162"/>
            <a:ext cx="2781300" cy="11811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191250" y="2811512"/>
            <a:ext cx="256489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Features align with domain knowledge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04800" y="4011662"/>
            <a:ext cx="870508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🔮 Future Work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04800" y="4270623"/>
            <a:ext cx="8534400" cy="38859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323850" y="4270623"/>
            <a:ext cx="0" cy="388590"/>
          </a:xfrm>
          <a:prstGeom prst="line">
            <a:avLst/>
          </a:prstGeom>
          <a:noFill/>
          <a:ln w="38100">
            <a:solidFill>
              <a:srgbClr val="EA580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5300" y="4384923"/>
            <a:ext cx="83553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 Net • Other markets • Non-linear methods • Time-series forecasting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85180" y="582216"/>
            <a:ext cx="397364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00"/>
              </a:lnSpc>
              <a:spcAft>
                <a:spcPts val="1800"/>
              </a:spcAft>
              <a:buNone/>
            </a:pPr>
            <a:r>
              <a:rPr lang="en-US" sz="3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08076" y="1306116"/>
            <a:ext cx="7927848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30"/>
              </a:lnSpc>
              <a:spcAft>
                <a:spcPts val="3000"/>
              </a:spcAft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685800" y="2033736"/>
            <a:ext cx="7772400" cy="1727746"/>
          </a:xfrm>
          <a:prstGeom prst="roundRect">
            <a:avLst>
              <a:gd name="adj" fmla="val 6616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80110" y="2300436"/>
            <a:ext cx="738378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80110" y="2666107"/>
            <a:ext cx="73837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Muhammad Anwar Raza (MSDS25002)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880110" y="2942332"/>
            <a:ext cx="73837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Fahad Khalid (MSDS25025)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880110" y="3218557"/>
            <a:ext cx="73837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Noman Ali (MSDS25054)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608076" y="4066282"/>
            <a:ext cx="792784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CS587 - Statistical and Mathematical Tools for Data Science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8076" y="4336703"/>
            <a:ext cx="792784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Technology University (ITU), Pakistan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Information Technology University (ITU), Pakistan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Comparative Analysis of L1 and L2 Regularization</dc:title>
  <dc:subject>L1 vs L2 Regularization Comparison</dc:subject>
  <dc:creator>Muhammad Anwar Raza, Fahad Khalid, Noman Ali</dc:creator>
  <cp:lastModifiedBy>Muhammad Anwar Raza, Fahad Khalid, Noman Ali</cp:lastModifiedBy>
  <cp:revision>1</cp:revision>
  <dcterms:created xsi:type="dcterms:W3CDTF">2025-12-07T15:11:53Z</dcterms:created>
  <dcterms:modified xsi:type="dcterms:W3CDTF">2025-12-07T15:11:53Z</dcterms:modified>
</cp:coreProperties>
</file>